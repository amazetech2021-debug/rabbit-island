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Greet the child: "Hello! I'm Teacher Gem! Today we will count numbers!"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Wave and smile. Make eye contact to build rapport.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Get ready for a fun counting adventure!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Say "Hello, [Name]! How are you today?" Smile and wave.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Encourage the child to say "I'm fine, thank you!" or "I'm happy!"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Sing the hello chant: "Hello, hello, how are you? Hello, hello, how are you? I'm fine, I'm fine, thank you!"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Wave hands on the beat. Make it cheerful!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"Review time! Show me: hello!" Wait for the child to wave and say hello.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"Now goodbye!" Wait for the child to wave goodbye.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Praise the child for remembering. Then move on to counting!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Hold up your hand and count each finger: "One! Two! Three! Four! Five!"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Model slowly. Have the child show their fingers and count with you.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Practice: "Show me three! Show me five! Show me one!"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Praise each correct answer. Keep it fun and energetic.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Point to each number and say it: "One! Two! Three! Four! Five!"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Then play: "Show me three!" Wait for the child to hold up 3 fingers.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"Show me five! Show me one!" Keep asking different numbers.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Praise every correct response. Make it a quick, fun game.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"Bring me two blocks! Two!" Wait for the child to bring blocks and show to camera.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Count together: "One, two! Great!" Praise the child.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Continue: "Bring me four! ... Bring me five!" Each time count together.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"Now put them in a line. Count with me: one, two, three, four, five!"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Have the child put the blocks in a line.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Point to each block and count together: "One, two, three, four, five!"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Repeat once more, clapping on each number.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Praise enthusiastically: "Great counting!"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Point to the blocks and ask: "How many blocks?" Wait for the child to answer.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Confirm: "Yes! Three blocks. I have three blocks."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Then ask: "How many fingers on one hand?" Wait for "Five!"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"Yes! I have five fingers. You have five fingers. Say it: 'I have five fingers.'"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Show your hand and ask: "How many fingers on one hand?"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Wait for the child to say "Five!"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Confirm: "Yes! I have five fingers. You have five fingers."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Have the child repeat: "I have five fingers."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"I say a number, you clap! Three!" Wait for the child to clap 3 times.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Continue: "Five!" (5 claps) "Two!" (2 claps).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"Now jump! Four!" (4 jumps) "One!" (1 jump).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Finish: "Count with me: one, two, three, four, five, clap!"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"Great job, [Name]! Today we learned: one, two, three, four."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Have the child repeat each number once. Clap after each.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"You get three stars! One, two, three!" Count on fingers and clap.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Praise enthusiastically for all the hard work today.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Sing a short goodbye chant with waving hands: "Bye-bye, bye-bye, see you next time!"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Wave and smile. Say "See you next time, [Name]! Goodbye!"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End the lesson warmly. Do not start a new activity.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36" b="36"/>
          <a:stretch>
            <a:fillRect/>
          </a:stretch>
        </p:blipFill>
        <p:spPr>
          <a:xfrm rot="0" flipH="false" flipV="false">
            <a:off x="7112000" y="1270000"/>
            <a:ext cx="3556000" cy="317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889000" y="1524000"/>
            <a:ext cx="609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Count with Me!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89000" y="2857500"/>
            <a:ext cx="584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1, 2, 3, 4, 5!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3873500"/>
            <a:ext cx="2286000" cy="127000"/>
          </a:xfrm>
          <a:prstGeom prst="roundRect">
            <a:avLst>
              <a:gd name="adj" fmla="val 50000"/>
            </a:avLst>
          </a:prstGeom>
          <a:solidFill>
            <a:srgbClr val="6BBFE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43815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Let's learn numbers together!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3" b="13"/>
          <a:stretch>
            <a:fillRect/>
          </a:stretch>
        </p:blipFill>
        <p:spPr>
          <a:xfrm rot="0" flipH="false" flipV="false">
            <a:off x="7239000" y="1397000"/>
            <a:ext cx="3302000" cy="33147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889000" y="1651000"/>
            <a:ext cx="635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Hello! How are you?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89000" y="2794000"/>
            <a:ext cx="571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I'm fine, thank you!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3683000"/>
            <a:ext cx="2032000" cy="101600"/>
          </a:xfrm>
          <a:prstGeom prst="roundRect">
            <a:avLst>
              <a:gd name="adj" fmla="val 50000"/>
            </a:avLst>
          </a:prstGeom>
          <a:solidFill>
            <a:srgbClr val="F7D7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4064000"/>
            <a:ext cx="571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Sing the hello chant together!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Review time!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51000" y="2159000"/>
            <a:ext cx="4064000" cy="2286000"/>
          </a:xfrm>
          <a:prstGeom prst="roundRect">
            <a:avLst>
              <a:gd name="adj" fmla="val 13333"/>
            </a:avLst>
          </a:prstGeom>
          <a:solidFill>
            <a:srgbClr val="E2883E">
              <a:alpha val="12000"/>
            </a:srgbClr>
          </a:solidFill>
          <a:ln w="38100" cmpd="sng" cap="flat">
            <a:solidFill>
              <a:srgbClr val="E2883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651000" y="2794000"/>
            <a:ext cx="406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Hello!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477000" y="2159000"/>
            <a:ext cx="4064000" cy="2286000"/>
          </a:xfrm>
          <a:prstGeom prst="roundRect">
            <a:avLst>
              <a:gd name="adj" fmla="val 13333"/>
            </a:avLst>
          </a:prstGeom>
          <a:solidFill>
            <a:srgbClr val="6BBFEA">
              <a:alpha val="15000"/>
            </a:srgbClr>
          </a:solidFill>
          <a:ln w="38100" cmpd="sng" cap="flat">
            <a:solidFill>
              <a:srgbClr val="6BBFE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477000" y="2794000"/>
            <a:ext cx="406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Goodbye!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080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Show me: hello! goodbye!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One, two, three, four, five!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57" b="57"/>
          <a:stretch>
            <a:fillRect/>
          </a:stretch>
        </p:blipFill>
        <p:spPr>
          <a:xfrm rot="0" flipH="false" flipV="false">
            <a:off x="4445000" y="1651000"/>
            <a:ext cx="3302000" cy="3352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1016000" y="5334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Look at my fingers! Now you!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Show me a number!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270000" y="2286000"/>
            <a:ext cx="1270000" cy="1270000"/>
          </a:xfrm>
          <a:prstGeom prst="ellipse">
            <a:avLst/>
          </a:prstGeom>
          <a:solidFill>
            <a:srgbClr val="E2883E">
              <a:alpha val="15000"/>
            </a:srgbClr>
          </a:solidFill>
          <a:ln w="38100" cmpd="sng" cap="flat">
            <a:solidFill>
              <a:srgbClr val="E2883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70000" y="25400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175000" y="2286000"/>
            <a:ext cx="1270000" cy="1270000"/>
          </a:xfrm>
          <a:prstGeom prst="ellipse">
            <a:avLst/>
          </a:prstGeom>
          <a:solidFill>
            <a:srgbClr val="6BBFEA">
              <a:alpha val="15000"/>
            </a:srgbClr>
          </a:solidFill>
          <a:ln w="38100" cmpd="sng" cap="flat">
            <a:solidFill>
              <a:srgbClr val="6BBFE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175000" y="25400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0" y="2286000"/>
            <a:ext cx="1270000" cy="1270000"/>
          </a:xfrm>
          <a:prstGeom prst="ellipse">
            <a:avLst/>
          </a:prstGeom>
          <a:solidFill>
            <a:srgbClr val="F7D752">
              <a:alpha val="25000"/>
            </a:srgbClr>
          </a:solidFill>
          <a:ln w="38100" cmpd="sng" cap="flat">
            <a:solidFill>
              <a:srgbClr val="F7D75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0" y="25400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985000" y="2286000"/>
            <a:ext cx="1270000" cy="1270000"/>
          </a:xfrm>
          <a:prstGeom prst="ellipse">
            <a:avLst/>
          </a:prstGeom>
          <a:solidFill>
            <a:srgbClr val="E2883E">
              <a:alpha val="15000"/>
            </a:srgbClr>
          </a:solidFill>
          <a:ln w="38100" cmpd="sng" cap="flat">
            <a:solidFill>
              <a:srgbClr val="E2883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985000" y="25400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0" y="2286000"/>
            <a:ext cx="1270000" cy="1270000"/>
          </a:xfrm>
          <a:prstGeom prst="ellipse">
            <a:avLst/>
          </a:prstGeom>
          <a:solidFill>
            <a:srgbClr val="6BBFEA">
              <a:alpha val="15000"/>
            </a:srgbClr>
          </a:solidFill>
          <a:ln w="38100" cmpd="sng" cap="flat">
            <a:solidFill>
              <a:srgbClr val="6BBFE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90000" y="25400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31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Show me three! Show me five! Show me one!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84" b="84"/>
          <a:stretch>
            <a:fillRect/>
          </a:stretch>
        </p:blipFill>
        <p:spPr>
          <a:xfrm rot="0" flipH="false" flipV="false">
            <a:off x="7112000" y="1778000"/>
            <a:ext cx="4064000" cy="29591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889000" y="1651000"/>
            <a:ext cx="571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Bring me blocks!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89000" y="2794000"/>
            <a:ext cx="571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Bring me two blocks!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3683000"/>
            <a:ext cx="2032000" cy="101600"/>
          </a:xfrm>
          <a:prstGeom prst="roundRect">
            <a:avLst>
              <a:gd name="adj" fmla="val 50000"/>
            </a:avLst>
          </a:prstGeom>
          <a:solidFill>
            <a:srgbClr val="F7D7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4064000"/>
            <a:ext cx="571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Now four! Now five!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01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Count together!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286000" y="2286000"/>
            <a:ext cx="7620000" cy="3048000"/>
          </a:xfrm>
          <a:prstGeom prst="roundRect">
            <a:avLst>
              <a:gd name="adj" fmla="val 10000"/>
            </a:avLst>
          </a:prstGeom>
          <a:solidFill>
            <a:srgbClr val="6BBFEA">
              <a:alpha val="12000"/>
            </a:srgbClr>
          </a:solidFill>
          <a:ln w="38100" cmpd="sng" cap="flat">
            <a:solidFill>
              <a:srgbClr val="6BBFE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413000" y="2921000"/>
            <a:ext cx="736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One, two, three, four, five!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794000" y="3937000"/>
            <a:ext cx="660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Great! Let's count again!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128" r="128" t="0" b="0"/>
          <a:stretch>
            <a:fillRect/>
          </a:stretch>
        </p:blipFill>
        <p:spPr>
          <a:xfrm rot="0" flipH="false" flipV="false">
            <a:off x="7366000" y="1778000"/>
            <a:ext cx="3048000" cy="2857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889000" y="1905000"/>
            <a:ext cx="609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How many blocks?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89000" y="3175000"/>
            <a:ext cx="609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Three blocks!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4064000"/>
            <a:ext cx="2032000" cy="101600"/>
          </a:xfrm>
          <a:prstGeom prst="roundRect">
            <a:avLst>
              <a:gd name="adj" fmla="val 50000"/>
            </a:avLst>
          </a:prstGeom>
          <a:solidFill>
            <a:srgbClr val="6BBFE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4445000"/>
            <a:ext cx="609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I have three blocks.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2286000" y="1651000"/>
            <a:ext cx="7620000" cy="1397000"/>
          </a:xfrm>
          <a:prstGeom prst="roundRect">
            <a:avLst>
              <a:gd name="adj" fmla="val 21818"/>
            </a:avLst>
          </a:prstGeom>
          <a:solidFill>
            <a:srgbClr val="6BBFEA">
              <a:alpha val="15000"/>
            </a:srgbClr>
          </a:solidFill>
          <a:ln w="38100" cmpd="sng" cap="flat">
            <a:solidFill>
              <a:srgbClr val="6BBFE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286000" y="1968500"/>
            <a:ext cx="762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How many fingers?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286000" y="3556000"/>
            <a:ext cx="7620000" cy="1397000"/>
          </a:xfrm>
          <a:prstGeom prst="roundRect">
            <a:avLst>
              <a:gd name="adj" fmla="val 21818"/>
            </a:avLst>
          </a:prstGeom>
          <a:solidFill>
            <a:srgbClr val="E2883E">
              <a:alpha val="12000"/>
            </a:srgbClr>
          </a:solidFill>
          <a:ln w="38100" cmpd="sng" cap="flat">
            <a:solidFill>
              <a:srgbClr val="E2883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286000" y="3873500"/>
            <a:ext cx="762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I have five fingers!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60" b="60"/>
          <a:stretch>
            <a:fillRect/>
          </a:stretch>
        </p:blipFill>
        <p:spPr>
          <a:xfrm rot="0" flipH="false" flipV="false">
            <a:off x="7366000" y="1397000"/>
            <a:ext cx="3048000" cy="34671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889000" y="1651000"/>
            <a:ext cx="584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Clap and jump!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89000" y="2921000"/>
            <a:ext cx="584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I say a number, you clap!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3810000"/>
            <a:ext cx="2032000" cy="101600"/>
          </a:xfrm>
          <a:prstGeom prst="roundRect">
            <a:avLst>
              <a:gd name="adj" fmla="val 50000"/>
            </a:avLst>
          </a:prstGeom>
          <a:solidFill>
            <a:srgbClr val="F7D7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4191000"/>
            <a:ext cx="584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Three! Five! Two! ... Now jump!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Great job!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152" b="152"/>
          <a:stretch>
            <a:fillRect/>
          </a:stretch>
        </p:blipFill>
        <p:spPr>
          <a:xfrm rot="0" flipH="false" flipV="false">
            <a:off x="3810000" y="2032000"/>
            <a:ext cx="4572000" cy="2082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1016000" y="4572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You get three stars! One, two, three!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5334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Today we learned: one, two, three, four.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DF5">
                <a:alpha val="100000"/>
              </a:srgbClr>
            </a:gs>
            <a:gs pos="100000">
              <a:srgbClr val="F7D752">
                <a:alpha val="2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651000" y="1778000"/>
            <a:ext cx="889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E2883E"/>
                </a:solidFill>
                <a:latin typeface="Nunito"/>
                <a:ea typeface="Nunito"/>
                <a:cs typeface="Nunito"/>
                <a:sym typeface="Nunito"/>
              </a:rPr>
              <a:t>Goodbye!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51000" y="33020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D547A"/>
                </a:solidFill>
                <a:latin typeface="Nunito"/>
                <a:ea typeface="Nunito"/>
                <a:cs typeface="Nunito"/>
                <a:sym typeface="Nunito"/>
              </a:rPr>
              <a:t>See you next time!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826000" y="4318000"/>
            <a:ext cx="2540000" cy="101600"/>
          </a:xfrm>
          <a:prstGeom prst="roundRect">
            <a:avLst>
              <a:gd name="adj" fmla="val 50000"/>
            </a:avLst>
          </a:prstGeom>
          <a:solidFill>
            <a:srgbClr val="F7D75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651000" y="4826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3D547A">
                    <a:alpha val="70196"/>
                  </a:srgbClr>
                </a:solidFill>
                <a:latin typeface="Nunito"/>
                <a:ea typeface="Nunito"/>
                <a:cs typeface="Nunito"/>
                <a:sym typeface="Nunito"/>
              </a:rPr>
              <a:t>Bye-bye, bye-bye, see you next time!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{"Label":"1","ContentProducer":"001191110102MACQD9K64010000","ProduceID":"7687475982006324436","ReservedCode1":"","ContentPropagator":"","PropagateID":"","ReservedCode2":""}</vt:lpwstr>
  </property>
</Properties>
</file>